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grandir Bold" panose="020B0604020202020204" charset="0"/>
      <p:regular r:id="rId9"/>
    </p:embeddedFont>
    <p:embeddedFont>
      <p:font typeface="Lovelo" panose="020B0604020202020204" charset="0"/>
      <p:regular r:id="rId10"/>
    </p:embeddedFont>
    <p:embeddedFont>
      <p:font typeface="Poppins" panose="00000500000000000000" pitchFamily="2" charset="0"/>
      <p:regular r:id="rId11"/>
    </p:embeddedFont>
    <p:embeddedFont>
      <p:font typeface="Poppins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0564" y="1202897"/>
            <a:ext cx="2963516" cy="7640562"/>
            <a:chOff x="0" y="0"/>
            <a:chExt cx="652456" cy="1682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2456" cy="1682168"/>
            </a:xfrm>
            <a:custGeom>
              <a:avLst/>
              <a:gdLst/>
              <a:ahLst/>
              <a:cxnLst/>
              <a:rect l="l" t="t" r="r" b="b"/>
              <a:pathLst>
                <a:path w="652456" h="1682168">
                  <a:moveTo>
                    <a:pt x="107109" y="0"/>
                  </a:moveTo>
                  <a:lnTo>
                    <a:pt x="545347" y="0"/>
                  </a:lnTo>
                  <a:cubicBezTo>
                    <a:pt x="604502" y="0"/>
                    <a:pt x="652456" y="47954"/>
                    <a:pt x="652456" y="107109"/>
                  </a:cubicBezTo>
                  <a:lnTo>
                    <a:pt x="652456" y="1575059"/>
                  </a:lnTo>
                  <a:cubicBezTo>
                    <a:pt x="652456" y="1634213"/>
                    <a:pt x="604502" y="1682168"/>
                    <a:pt x="545347" y="1682168"/>
                  </a:cubicBezTo>
                  <a:lnTo>
                    <a:pt x="107109" y="1682168"/>
                  </a:lnTo>
                  <a:cubicBezTo>
                    <a:pt x="47954" y="1682168"/>
                    <a:pt x="0" y="1634213"/>
                    <a:pt x="0" y="1575059"/>
                  </a:cubicBezTo>
                  <a:lnTo>
                    <a:pt x="0" y="107109"/>
                  </a:lnTo>
                  <a:cubicBezTo>
                    <a:pt x="0" y="47954"/>
                    <a:pt x="47954" y="0"/>
                    <a:pt x="107109" y="0"/>
                  </a:cubicBez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52456" cy="1720268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36865" y="1641409"/>
            <a:ext cx="6179500" cy="6600956"/>
            <a:chOff x="0" y="0"/>
            <a:chExt cx="1124862" cy="12015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4862" cy="1201581"/>
            </a:xfrm>
            <a:custGeom>
              <a:avLst/>
              <a:gdLst/>
              <a:ahLst/>
              <a:cxnLst/>
              <a:rect l="l" t="t" r="r" b="b"/>
              <a:pathLst>
                <a:path w="1124862" h="1201581">
                  <a:moveTo>
                    <a:pt x="50114" y="0"/>
                  </a:moveTo>
                  <a:lnTo>
                    <a:pt x="1074749" y="0"/>
                  </a:lnTo>
                  <a:cubicBezTo>
                    <a:pt x="1088040" y="0"/>
                    <a:pt x="1100786" y="5280"/>
                    <a:pt x="1110185" y="14678"/>
                  </a:cubicBezTo>
                  <a:cubicBezTo>
                    <a:pt x="1119583" y="24076"/>
                    <a:pt x="1124862" y="36823"/>
                    <a:pt x="1124862" y="50114"/>
                  </a:cubicBezTo>
                  <a:lnTo>
                    <a:pt x="1124862" y="1151467"/>
                  </a:lnTo>
                  <a:cubicBezTo>
                    <a:pt x="1124862" y="1164758"/>
                    <a:pt x="1119583" y="1177505"/>
                    <a:pt x="1110185" y="1186903"/>
                  </a:cubicBezTo>
                  <a:cubicBezTo>
                    <a:pt x="1100786" y="1196301"/>
                    <a:pt x="1088040" y="1201581"/>
                    <a:pt x="1074749" y="1201581"/>
                  </a:cubicBezTo>
                  <a:lnTo>
                    <a:pt x="50114" y="1201581"/>
                  </a:lnTo>
                  <a:cubicBezTo>
                    <a:pt x="36823" y="1201581"/>
                    <a:pt x="24076" y="1196301"/>
                    <a:pt x="14678" y="1186903"/>
                  </a:cubicBezTo>
                  <a:cubicBezTo>
                    <a:pt x="5280" y="1177505"/>
                    <a:pt x="0" y="1164758"/>
                    <a:pt x="0" y="1151467"/>
                  </a:cubicBezTo>
                  <a:lnTo>
                    <a:pt x="0" y="50114"/>
                  </a:lnTo>
                  <a:cubicBezTo>
                    <a:pt x="0" y="36823"/>
                    <a:pt x="5280" y="24076"/>
                    <a:pt x="14678" y="14678"/>
                  </a:cubicBezTo>
                  <a:cubicBezTo>
                    <a:pt x="24076" y="5280"/>
                    <a:pt x="36823" y="0"/>
                    <a:pt x="50114" y="0"/>
                  </a:cubicBezTo>
                  <a:close/>
                </a:path>
              </a:pathLst>
            </a:custGeom>
            <a:blipFill>
              <a:blip r:embed="rId2"/>
              <a:stretch>
                <a:fillRect l="-44951" r="-44951"/>
              </a:stretch>
            </a:blipFill>
          </p:spPr>
          <p:txBody>
            <a:bodyPr/>
            <a:lstStyle/>
            <a:p>
              <a:endParaRPr lang="en-ZA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988342" y="4018501"/>
            <a:ext cx="6374161" cy="3054479"/>
            <a:chOff x="0" y="0"/>
            <a:chExt cx="1403353" cy="6724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03353" cy="672483"/>
            </a:xfrm>
            <a:custGeom>
              <a:avLst/>
              <a:gdLst/>
              <a:ahLst/>
              <a:cxnLst/>
              <a:rect l="l" t="t" r="r" b="b"/>
              <a:pathLst>
                <a:path w="1403353" h="672483">
                  <a:moveTo>
                    <a:pt x="0" y="0"/>
                  </a:moveTo>
                  <a:lnTo>
                    <a:pt x="1403353" y="0"/>
                  </a:lnTo>
                  <a:lnTo>
                    <a:pt x="1403353" y="672483"/>
                  </a:lnTo>
                  <a:lnTo>
                    <a:pt x="0" y="672483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03353" cy="710583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88342" y="7439671"/>
            <a:ext cx="6374161" cy="802694"/>
            <a:chOff x="0" y="0"/>
            <a:chExt cx="1403353" cy="1767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3353" cy="176723"/>
            </a:xfrm>
            <a:custGeom>
              <a:avLst/>
              <a:gdLst/>
              <a:ahLst/>
              <a:cxnLst/>
              <a:rect l="l" t="t" r="r" b="b"/>
              <a:pathLst>
                <a:path w="1403353" h="176723">
                  <a:moveTo>
                    <a:pt x="0" y="0"/>
                  </a:moveTo>
                  <a:lnTo>
                    <a:pt x="1403353" y="0"/>
                  </a:lnTo>
                  <a:lnTo>
                    <a:pt x="1403353" y="176723"/>
                  </a:lnTo>
                  <a:lnTo>
                    <a:pt x="0" y="176723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03353" cy="214823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988342" y="1926289"/>
            <a:ext cx="3687524" cy="620017"/>
            <a:chOff x="0" y="0"/>
            <a:chExt cx="811856" cy="1365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1856" cy="136505"/>
            </a:xfrm>
            <a:custGeom>
              <a:avLst/>
              <a:gdLst/>
              <a:ahLst/>
              <a:cxnLst/>
              <a:rect l="l" t="t" r="r" b="b"/>
              <a:pathLst>
                <a:path w="811856" h="136505">
                  <a:moveTo>
                    <a:pt x="0" y="0"/>
                  </a:moveTo>
                  <a:lnTo>
                    <a:pt x="811856" y="0"/>
                  </a:lnTo>
                  <a:lnTo>
                    <a:pt x="811856" y="136505"/>
                  </a:lnTo>
                  <a:lnTo>
                    <a:pt x="0" y="136505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1856" cy="174605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252590" y="4116355"/>
            <a:ext cx="6846552" cy="1760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 dirty="0">
                <a:solidFill>
                  <a:srgbClr val="161414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Proven  Presentation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52590" y="7432709"/>
            <a:ext cx="6394939" cy="84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>
                <a:solidFill>
                  <a:srgbClr val="161414"/>
                </a:solidFill>
                <a:latin typeface="Poppins"/>
                <a:ea typeface="Poppins"/>
                <a:cs typeface="Poppins"/>
                <a:sym typeface="Poppins"/>
              </a:rPr>
              <a:t>Post-funding visibility and support for  South African SMEs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52590" y="1990553"/>
            <a:ext cx="4098895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1800">
                <a:solidFill>
                  <a:srgbClr val="161414"/>
                </a:solidFill>
                <a:latin typeface="Poppins"/>
                <a:ea typeface="Poppins"/>
                <a:cs typeface="Poppins"/>
                <a:sym typeface="Poppins"/>
              </a:rPr>
              <a:t>Turning Potential into Proof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250322" y="342024"/>
            <a:ext cx="1008978" cy="1299384"/>
          </a:xfrm>
          <a:custGeom>
            <a:avLst/>
            <a:gdLst/>
            <a:ahLst/>
            <a:cxnLst/>
            <a:rect l="l" t="t" r="r" b="b"/>
            <a:pathLst>
              <a:path w="1008978" h="1299384">
                <a:moveTo>
                  <a:pt x="0" y="0"/>
                </a:moveTo>
                <a:lnTo>
                  <a:pt x="1008978" y="0"/>
                </a:lnTo>
                <a:lnTo>
                  <a:pt x="1008978" y="1299385"/>
                </a:lnTo>
                <a:lnTo>
                  <a:pt x="0" y="1299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TextBox 20"/>
          <p:cNvSpPr txBox="1"/>
          <p:nvPr/>
        </p:nvSpPr>
        <p:spPr>
          <a:xfrm>
            <a:off x="1047793" y="446125"/>
            <a:ext cx="1836737" cy="6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0">
                <a:solidFill>
                  <a:srgbClr val="161414"/>
                </a:solidFill>
                <a:latin typeface="Lovelo"/>
                <a:ea typeface="Lovelo"/>
                <a:cs typeface="Lovelo"/>
                <a:sym typeface="Lovelo"/>
              </a:rPr>
              <a:t>PROVEN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135157" y="8604315"/>
            <a:ext cx="1409911" cy="1386840"/>
          </a:xfrm>
          <a:custGeom>
            <a:avLst/>
            <a:gdLst/>
            <a:ahLst/>
            <a:cxnLst/>
            <a:rect l="l" t="t" r="r" b="b"/>
            <a:pathLst>
              <a:path w="1409911" h="1386840">
                <a:moveTo>
                  <a:pt x="0" y="0"/>
                </a:moveTo>
                <a:lnTo>
                  <a:pt x="1409912" y="0"/>
                </a:lnTo>
                <a:lnTo>
                  <a:pt x="1409912" y="1386840"/>
                </a:lnTo>
                <a:lnTo>
                  <a:pt x="0" y="1386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/>
          <p:cNvSpPr/>
          <p:nvPr/>
        </p:nvSpPr>
        <p:spPr>
          <a:xfrm>
            <a:off x="13135157" y="1267373"/>
            <a:ext cx="1545244" cy="1579710"/>
          </a:xfrm>
          <a:custGeom>
            <a:avLst/>
            <a:gdLst/>
            <a:ahLst/>
            <a:cxnLst/>
            <a:rect l="l" t="t" r="r" b="b"/>
            <a:pathLst>
              <a:path w="1545244" h="1579710">
                <a:moveTo>
                  <a:pt x="0" y="0"/>
                </a:moveTo>
                <a:lnTo>
                  <a:pt x="1545244" y="0"/>
                </a:lnTo>
                <a:lnTo>
                  <a:pt x="1545244" y="1579710"/>
                </a:lnTo>
                <a:lnTo>
                  <a:pt x="0" y="1579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/>
          <p:cNvSpPr/>
          <p:nvPr/>
        </p:nvSpPr>
        <p:spPr>
          <a:xfrm rot="1185401">
            <a:off x="15349398" y="2056298"/>
            <a:ext cx="1499487" cy="1547313"/>
          </a:xfrm>
          <a:custGeom>
            <a:avLst/>
            <a:gdLst/>
            <a:ahLst/>
            <a:cxnLst/>
            <a:rect l="l" t="t" r="r" b="b"/>
            <a:pathLst>
              <a:path w="1499487" h="1547313">
                <a:moveTo>
                  <a:pt x="0" y="0"/>
                </a:moveTo>
                <a:lnTo>
                  <a:pt x="1499487" y="0"/>
                </a:lnTo>
                <a:lnTo>
                  <a:pt x="1499487" y="1547313"/>
                </a:lnTo>
                <a:lnTo>
                  <a:pt x="0" y="1547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/>
          <p:cNvSpPr/>
          <p:nvPr/>
        </p:nvSpPr>
        <p:spPr>
          <a:xfrm rot="-1725174">
            <a:off x="16257447" y="4273180"/>
            <a:ext cx="1617645" cy="1499998"/>
          </a:xfrm>
          <a:custGeom>
            <a:avLst/>
            <a:gdLst/>
            <a:ahLst/>
            <a:cxnLst/>
            <a:rect l="l" t="t" r="r" b="b"/>
            <a:pathLst>
              <a:path w="1617645" h="1499998">
                <a:moveTo>
                  <a:pt x="0" y="0"/>
                </a:moveTo>
                <a:lnTo>
                  <a:pt x="1617645" y="0"/>
                </a:lnTo>
                <a:lnTo>
                  <a:pt x="1617645" y="1499998"/>
                </a:lnTo>
                <a:lnTo>
                  <a:pt x="0" y="1499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5" name="Freeform 25"/>
          <p:cNvSpPr/>
          <p:nvPr/>
        </p:nvSpPr>
        <p:spPr>
          <a:xfrm rot="-2058724">
            <a:off x="16315311" y="6785355"/>
            <a:ext cx="1342518" cy="1181416"/>
          </a:xfrm>
          <a:custGeom>
            <a:avLst/>
            <a:gdLst/>
            <a:ahLst/>
            <a:cxnLst/>
            <a:rect l="l" t="t" r="r" b="b"/>
            <a:pathLst>
              <a:path w="1342518" h="1181416">
                <a:moveTo>
                  <a:pt x="0" y="0"/>
                </a:moveTo>
                <a:lnTo>
                  <a:pt x="1342518" y="0"/>
                </a:lnTo>
                <a:lnTo>
                  <a:pt x="1342518" y="1181416"/>
                </a:lnTo>
                <a:lnTo>
                  <a:pt x="0" y="1181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6" name="Freeform 26"/>
          <p:cNvSpPr/>
          <p:nvPr/>
        </p:nvSpPr>
        <p:spPr>
          <a:xfrm rot="2584398">
            <a:off x="15707285" y="8350597"/>
            <a:ext cx="1618466" cy="1648437"/>
          </a:xfrm>
          <a:custGeom>
            <a:avLst/>
            <a:gdLst/>
            <a:ahLst/>
            <a:cxnLst/>
            <a:rect l="l" t="t" r="r" b="b"/>
            <a:pathLst>
              <a:path w="1618466" h="1648437">
                <a:moveTo>
                  <a:pt x="0" y="0"/>
                </a:moveTo>
                <a:lnTo>
                  <a:pt x="1618466" y="0"/>
                </a:lnTo>
                <a:lnTo>
                  <a:pt x="1618466" y="1648437"/>
                </a:lnTo>
                <a:lnTo>
                  <a:pt x="0" y="1648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04268" y="1480000"/>
            <a:ext cx="1697730" cy="620017"/>
            <a:chOff x="0" y="0"/>
            <a:chExt cx="373777" cy="1365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777" cy="136505"/>
            </a:xfrm>
            <a:custGeom>
              <a:avLst/>
              <a:gdLst/>
              <a:ahLst/>
              <a:cxnLst/>
              <a:rect l="l" t="t" r="r" b="b"/>
              <a:pathLst>
                <a:path w="373777" h="136505">
                  <a:moveTo>
                    <a:pt x="0" y="0"/>
                  </a:moveTo>
                  <a:lnTo>
                    <a:pt x="373777" y="0"/>
                  </a:lnTo>
                  <a:lnTo>
                    <a:pt x="373777" y="136505"/>
                  </a:lnTo>
                  <a:lnTo>
                    <a:pt x="0" y="136505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73777" cy="174605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906469" y="1011620"/>
            <a:ext cx="6929107" cy="8229600"/>
            <a:chOff x="0" y="0"/>
            <a:chExt cx="899880" cy="10687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9880" cy="1068775"/>
            </a:xfrm>
            <a:custGeom>
              <a:avLst/>
              <a:gdLst/>
              <a:ahLst/>
              <a:cxnLst/>
              <a:rect l="l" t="t" r="r" b="b"/>
              <a:pathLst>
                <a:path w="899880" h="1068775">
                  <a:moveTo>
                    <a:pt x="33519" y="0"/>
                  </a:moveTo>
                  <a:lnTo>
                    <a:pt x="866361" y="0"/>
                  </a:lnTo>
                  <a:cubicBezTo>
                    <a:pt x="875251" y="0"/>
                    <a:pt x="883777" y="3531"/>
                    <a:pt x="890063" y="9818"/>
                  </a:cubicBezTo>
                  <a:cubicBezTo>
                    <a:pt x="896349" y="16104"/>
                    <a:pt x="899880" y="24629"/>
                    <a:pt x="899880" y="33519"/>
                  </a:cubicBezTo>
                  <a:lnTo>
                    <a:pt x="899880" y="1035256"/>
                  </a:lnTo>
                  <a:cubicBezTo>
                    <a:pt x="899880" y="1044145"/>
                    <a:pt x="896349" y="1052671"/>
                    <a:pt x="890063" y="1058957"/>
                  </a:cubicBezTo>
                  <a:cubicBezTo>
                    <a:pt x="883777" y="1065243"/>
                    <a:pt x="875251" y="1068775"/>
                    <a:pt x="866361" y="1068775"/>
                  </a:cubicBezTo>
                  <a:lnTo>
                    <a:pt x="33519" y="1068775"/>
                  </a:lnTo>
                  <a:cubicBezTo>
                    <a:pt x="24629" y="1068775"/>
                    <a:pt x="16104" y="1065243"/>
                    <a:pt x="9818" y="1058957"/>
                  </a:cubicBezTo>
                  <a:cubicBezTo>
                    <a:pt x="3531" y="1052671"/>
                    <a:pt x="0" y="1044145"/>
                    <a:pt x="0" y="1035256"/>
                  </a:cubicBezTo>
                  <a:lnTo>
                    <a:pt x="0" y="33519"/>
                  </a:lnTo>
                  <a:cubicBezTo>
                    <a:pt x="0" y="24629"/>
                    <a:pt x="3531" y="16104"/>
                    <a:pt x="9818" y="9818"/>
                  </a:cubicBezTo>
                  <a:cubicBezTo>
                    <a:pt x="16104" y="3531"/>
                    <a:pt x="24629" y="0"/>
                    <a:pt x="33519" y="0"/>
                  </a:cubicBezTo>
                  <a:close/>
                </a:path>
              </a:pathLst>
            </a:custGeom>
            <a:blipFill>
              <a:blip r:embed="rId2"/>
              <a:stretch>
                <a:fillRect l="-38965" r="-38965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6344" y="4820666"/>
            <a:ext cx="3862083" cy="3951299"/>
            <a:chOff x="0" y="0"/>
            <a:chExt cx="1017199" cy="1040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7199" cy="1040725"/>
            </a:xfrm>
            <a:custGeom>
              <a:avLst/>
              <a:gdLst/>
              <a:ahLst/>
              <a:cxnLst/>
              <a:rect l="l" t="t" r="r" b="b"/>
              <a:pathLst>
                <a:path w="1017199" h="1040725">
                  <a:moveTo>
                    <a:pt x="1017199" y="70161"/>
                  </a:moveTo>
                  <a:lnTo>
                    <a:pt x="1017199" y="970564"/>
                  </a:lnTo>
                  <a:cubicBezTo>
                    <a:pt x="1017199" y="989172"/>
                    <a:pt x="1009807" y="1007017"/>
                    <a:pt x="996649" y="1020175"/>
                  </a:cubicBezTo>
                  <a:cubicBezTo>
                    <a:pt x="983492" y="1033333"/>
                    <a:pt x="965646" y="1040725"/>
                    <a:pt x="947038" y="1040725"/>
                  </a:cubicBezTo>
                  <a:lnTo>
                    <a:pt x="70161" y="1040725"/>
                  </a:lnTo>
                  <a:cubicBezTo>
                    <a:pt x="51553" y="1040725"/>
                    <a:pt x="33707" y="1033333"/>
                    <a:pt x="20550" y="1020175"/>
                  </a:cubicBezTo>
                  <a:cubicBezTo>
                    <a:pt x="7392" y="1007017"/>
                    <a:pt x="0" y="989172"/>
                    <a:pt x="0" y="97056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017199" cy="109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66760" y="4820666"/>
            <a:ext cx="3862083" cy="3951299"/>
            <a:chOff x="0" y="0"/>
            <a:chExt cx="1017199" cy="10407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7199" cy="1040725"/>
            </a:xfrm>
            <a:custGeom>
              <a:avLst/>
              <a:gdLst/>
              <a:ahLst/>
              <a:cxnLst/>
              <a:rect l="l" t="t" r="r" b="b"/>
              <a:pathLst>
                <a:path w="1017199" h="1040725">
                  <a:moveTo>
                    <a:pt x="1017199" y="70161"/>
                  </a:moveTo>
                  <a:lnTo>
                    <a:pt x="1017199" y="970564"/>
                  </a:lnTo>
                  <a:cubicBezTo>
                    <a:pt x="1017199" y="989172"/>
                    <a:pt x="1009807" y="1007017"/>
                    <a:pt x="996649" y="1020175"/>
                  </a:cubicBezTo>
                  <a:cubicBezTo>
                    <a:pt x="983492" y="1033333"/>
                    <a:pt x="965646" y="1040725"/>
                    <a:pt x="947038" y="1040725"/>
                  </a:cubicBezTo>
                  <a:lnTo>
                    <a:pt x="70161" y="1040725"/>
                  </a:lnTo>
                  <a:cubicBezTo>
                    <a:pt x="51553" y="1040725"/>
                    <a:pt x="33707" y="1033333"/>
                    <a:pt x="20550" y="1020175"/>
                  </a:cubicBezTo>
                  <a:cubicBezTo>
                    <a:pt x="7392" y="1007017"/>
                    <a:pt x="0" y="989172"/>
                    <a:pt x="0" y="97056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017199" cy="109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867121" y="7069731"/>
            <a:ext cx="3092948" cy="0"/>
          </a:xfrm>
          <a:prstGeom prst="line">
            <a:avLst/>
          </a:prstGeom>
          <a:ln w="19050" cap="rnd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4" name="AutoShape 14"/>
          <p:cNvSpPr/>
          <p:nvPr/>
        </p:nvSpPr>
        <p:spPr>
          <a:xfrm>
            <a:off x="6417537" y="7069731"/>
            <a:ext cx="3092948" cy="0"/>
          </a:xfrm>
          <a:prstGeom prst="line">
            <a:avLst/>
          </a:prstGeom>
          <a:ln w="19050" cap="rnd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grpSp>
        <p:nvGrpSpPr>
          <p:cNvPr id="15" name="Group 15"/>
          <p:cNvGrpSpPr/>
          <p:nvPr/>
        </p:nvGrpSpPr>
        <p:grpSpPr>
          <a:xfrm>
            <a:off x="10617176" y="4820666"/>
            <a:ext cx="3862083" cy="3951299"/>
            <a:chOff x="0" y="0"/>
            <a:chExt cx="1017199" cy="10407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7199" cy="1040725"/>
            </a:xfrm>
            <a:custGeom>
              <a:avLst/>
              <a:gdLst/>
              <a:ahLst/>
              <a:cxnLst/>
              <a:rect l="l" t="t" r="r" b="b"/>
              <a:pathLst>
                <a:path w="1017199" h="1040725">
                  <a:moveTo>
                    <a:pt x="1017199" y="70161"/>
                  </a:moveTo>
                  <a:lnTo>
                    <a:pt x="1017199" y="970564"/>
                  </a:lnTo>
                  <a:cubicBezTo>
                    <a:pt x="1017199" y="989172"/>
                    <a:pt x="1009807" y="1007017"/>
                    <a:pt x="996649" y="1020175"/>
                  </a:cubicBezTo>
                  <a:cubicBezTo>
                    <a:pt x="983492" y="1033333"/>
                    <a:pt x="965646" y="1040725"/>
                    <a:pt x="947038" y="1040725"/>
                  </a:cubicBezTo>
                  <a:lnTo>
                    <a:pt x="70161" y="1040725"/>
                  </a:lnTo>
                  <a:cubicBezTo>
                    <a:pt x="51553" y="1040725"/>
                    <a:pt x="33707" y="1033333"/>
                    <a:pt x="20550" y="1020175"/>
                  </a:cubicBezTo>
                  <a:cubicBezTo>
                    <a:pt x="7392" y="1007017"/>
                    <a:pt x="0" y="989172"/>
                    <a:pt x="0" y="97056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017199" cy="1097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10967953" y="7069731"/>
            <a:ext cx="3092948" cy="0"/>
          </a:xfrm>
          <a:prstGeom prst="line">
            <a:avLst/>
          </a:prstGeom>
          <a:ln w="19050" cap="rnd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9" name="Freeform 19"/>
          <p:cNvSpPr/>
          <p:nvPr/>
        </p:nvSpPr>
        <p:spPr>
          <a:xfrm>
            <a:off x="2625353" y="5233880"/>
            <a:ext cx="1644065" cy="1522707"/>
          </a:xfrm>
          <a:custGeom>
            <a:avLst/>
            <a:gdLst/>
            <a:ahLst/>
            <a:cxnLst/>
            <a:rect l="l" t="t" r="r" b="b"/>
            <a:pathLst>
              <a:path w="1644065" h="1522707">
                <a:moveTo>
                  <a:pt x="0" y="0"/>
                </a:moveTo>
                <a:lnTo>
                  <a:pt x="1644065" y="0"/>
                </a:lnTo>
                <a:lnTo>
                  <a:pt x="1644065" y="1522707"/>
                </a:lnTo>
                <a:lnTo>
                  <a:pt x="0" y="1522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/>
          <p:cNvSpPr/>
          <p:nvPr/>
        </p:nvSpPr>
        <p:spPr>
          <a:xfrm>
            <a:off x="7234813" y="5233880"/>
            <a:ext cx="1644065" cy="1522707"/>
          </a:xfrm>
          <a:custGeom>
            <a:avLst/>
            <a:gdLst/>
            <a:ahLst/>
            <a:cxnLst/>
            <a:rect l="l" t="t" r="r" b="b"/>
            <a:pathLst>
              <a:path w="1644065" h="1522707">
                <a:moveTo>
                  <a:pt x="0" y="0"/>
                </a:moveTo>
                <a:lnTo>
                  <a:pt x="1644066" y="0"/>
                </a:lnTo>
                <a:lnTo>
                  <a:pt x="1644066" y="1522707"/>
                </a:lnTo>
                <a:lnTo>
                  <a:pt x="0" y="1522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/>
          <p:cNvSpPr/>
          <p:nvPr/>
        </p:nvSpPr>
        <p:spPr>
          <a:xfrm>
            <a:off x="11726185" y="5233880"/>
            <a:ext cx="1644065" cy="1522707"/>
          </a:xfrm>
          <a:custGeom>
            <a:avLst/>
            <a:gdLst/>
            <a:ahLst/>
            <a:cxnLst/>
            <a:rect l="l" t="t" r="r" b="b"/>
            <a:pathLst>
              <a:path w="1644065" h="1522707">
                <a:moveTo>
                  <a:pt x="0" y="0"/>
                </a:moveTo>
                <a:lnTo>
                  <a:pt x="1644065" y="0"/>
                </a:lnTo>
                <a:lnTo>
                  <a:pt x="1644065" y="1522707"/>
                </a:lnTo>
                <a:lnTo>
                  <a:pt x="0" y="1522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TextBox 22"/>
          <p:cNvSpPr txBox="1"/>
          <p:nvPr/>
        </p:nvSpPr>
        <p:spPr>
          <a:xfrm>
            <a:off x="1584895" y="1471049"/>
            <a:ext cx="6750348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Th</a:t>
            </a:r>
            <a:r>
              <a:rPr lang="en-US" sz="6800" b="1" u="none" strike="noStrik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e Problem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67121" y="7232566"/>
            <a:ext cx="3278618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Funded SMEs lose visibility the moment money is disbursed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17537" y="7232566"/>
            <a:ext cx="3278618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Funders can't see whether support is producing real progress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67953" y="7232566"/>
            <a:ext cx="3278618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Silent business failure means lost growth and jobs</a:t>
            </a:r>
          </a:p>
        </p:txBody>
      </p:sp>
      <p:sp>
        <p:nvSpPr>
          <p:cNvPr id="26" name="AutoShape 26"/>
          <p:cNvSpPr/>
          <p:nvPr/>
        </p:nvSpPr>
        <p:spPr>
          <a:xfrm>
            <a:off x="3315085" y="3025281"/>
            <a:ext cx="1037924" cy="19050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ZA"/>
          </a:p>
        </p:txBody>
      </p:sp>
      <p:sp>
        <p:nvSpPr>
          <p:cNvPr id="27" name="Freeform 27"/>
          <p:cNvSpPr/>
          <p:nvPr/>
        </p:nvSpPr>
        <p:spPr>
          <a:xfrm>
            <a:off x="1584895" y="2871704"/>
            <a:ext cx="1457218" cy="364304"/>
          </a:xfrm>
          <a:custGeom>
            <a:avLst/>
            <a:gdLst/>
            <a:ahLst/>
            <a:cxnLst/>
            <a:rect l="l" t="t" r="r" b="b"/>
            <a:pathLst>
              <a:path w="1457218" h="364304">
                <a:moveTo>
                  <a:pt x="0" y="0"/>
                </a:moveTo>
                <a:lnTo>
                  <a:pt x="1457218" y="0"/>
                </a:lnTo>
                <a:lnTo>
                  <a:pt x="1457218" y="364304"/>
                </a:lnTo>
                <a:lnTo>
                  <a:pt x="0" y="364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8" name="TextBox 28"/>
          <p:cNvSpPr txBox="1"/>
          <p:nvPr/>
        </p:nvSpPr>
        <p:spPr>
          <a:xfrm>
            <a:off x="1047793" y="446125"/>
            <a:ext cx="1836737" cy="6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0">
                <a:solidFill>
                  <a:srgbClr val="161414"/>
                </a:solidFill>
                <a:latin typeface="Lovelo"/>
                <a:ea typeface="Lovelo"/>
                <a:cs typeface="Lovelo"/>
                <a:sym typeface="Lovelo"/>
              </a:rPr>
              <a:t>PROVEN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178586"/>
            <a:ext cx="2963516" cy="7929828"/>
            <a:chOff x="0" y="0"/>
            <a:chExt cx="652456" cy="1745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2456" cy="1745853"/>
            </a:xfrm>
            <a:custGeom>
              <a:avLst/>
              <a:gdLst/>
              <a:ahLst/>
              <a:cxnLst/>
              <a:rect l="l" t="t" r="r" b="b"/>
              <a:pathLst>
                <a:path w="652456" h="1745853">
                  <a:moveTo>
                    <a:pt x="107109" y="0"/>
                  </a:moveTo>
                  <a:lnTo>
                    <a:pt x="545347" y="0"/>
                  </a:lnTo>
                  <a:cubicBezTo>
                    <a:pt x="604502" y="0"/>
                    <a:pt x="652456" y="47954"/>
                    <a:pt x="652456" y="107109"/>
                  </a:cubicBezTo>
                  <a:lnTo>
                    <a:pt x="652456" y="1638744"/>
                  </a:lnTo>
                  <a:cubicBezTo>
                    <a:pt x="652456" y="1697899"/>
                    <a:pt x="604502" y="1745853"/>
                    <a:pt x="545347" y="1745853"/>
                  </a:cubicBezTo>
                  <a:lnTo>
                    <a:pt x="107109" y="1745853"/>
                  </a:lnTo>
                  <a:cubicBezTo>
                    <a:pt x="47954" y="1745853"/>
                    <a:pt x="0" y="1697899"/>
                    <a:pt x="0" y="1638744"/>
                  </a:cubicBezTo>
                  <a:lnTo>
                    <a:pt x="0" y="107109"/>
                  </a:lnTo>
                  <a:cubicBezTo>
                    <a:pt x="0" y="47954"/>
                    <a:pt x="47954" y="0"/>
                    <a:pt x="107109" y="0"/>
                  </a:cubicBez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52456" cy="1783953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9526" y="1515034"/>
            <a:ext cx="5240070" cy="7256931"/>
            <a:chOff x="0" y="0"/>
            <a:chExt cx="709684" cy="9828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9684" cy="982836"/>
            </a:xfrm>
            <a:custGeom>
              <a:avLst/>
              <a:gdLst/>
              <a:ahLst/>
              <a:cxnLst/>
              <a:rect l="l" t="t" r="r" b="b"/>
              <a:pathLst>
                <a:path w="709684" h="982836">
                  <a:moveTo>
                    <a:pt x="36936" y="0"/>
                  </a:moveTo>
                  <a:lnTo>
                    <a:pt x="672748" y="0"/>
                  </a:lnTo>
                  <a:cubicBezTo>
                    <a:pt x="682544" y="0"/>
                    <a:pt x="691939" y="3891"/>
                    <a:pt x="698866" y="10818"/>
                  </a:cubicBezTo>
                  <a:cubicBezTo>
                    <a:pt x="705793" y="17745"/>
                    <a:pt x="709684" y="27140"/>
                    <a:pt x="709684" y="36936"/>
                  </a:cubicBezTo>
                  <a:lnTo>
                    <a:pt x="709684" y="945900"/>
                  </a:lnTo>
                  <a:cubicBezTo>
                    <a:pt x="709684" y="955696"/>
                    <a:pt x="705793" y="965091"/>
                    <a:pt x="698866" y="972018"/>
                  </a:cubicBezTo>
                  <a:cubicBezTo>
                    <a:pt x="691939" y="978945"/>
                    <a:pt x="682544" y="982836"/>
                    <a:pt x="672748" y="982836"/>
                  </a:cubicBezTo>
                  <a:lnTo>
                    <a:pt x="36936" y="982836"/>
                  </a:lnTo>
                  <a:cubicBezTo>
                    <a:pt x="27140" y="982836"/>
                    <a:pt x="17745" y="978945"/>
                    <a:pt x="10818" y="972018"/>
                  </a:cubicBezTo>
                  <a:cubicBezTo>
                    <a:pt x="3891" y="965091"/>
                    <a:pt x="0" y="955696"/>
                    <a:pt x="0" y="945900"/>
                  </a:cubicBezTo>
                  <a:lnTo>
                    <a:pt x="0" y="36936"/>
                  </a:lnTo>
                  <a:cubicBezTo>
                    <a:pt x="0" y="27140"/>
                    <a:pt x="3891" y="17745"/>
                    <a:pt x="10818" y="10818"/>
                  </a:cubicBezTo>
                  <a:cubicBezTo>
                    <a:pt x="17745" y="3891"/>
                    <a:pt x="27140" y="0"/>
                    <a:pt x="36936" y="0"/>
                  </a:cubicBezTo>
                  <a:close/>
                </a:path>
              </a:pathLst>
            </a:custGeom>
            <a:blipFill>
              <a:blip r:embed="rId2"/>
              <a:stretch>
                <a:fillRect l="-73101" r="-73101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936487" y="2330243"/>
            <a:ext cx="3600510" cy="633954"/>
            <a:chOff x="0" y="0"/>
            <a:chExt cx="792698" cy="1395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92698" cy="139573"/>
            </a:xfrm>
            <a:custGeom>
              <a:avLst/>
              <a:gdLst/>
              <a:ahLst/>
              <a:cxnLst/>
              <a:rect l="l" t="t" r="r" b="b"/>
              <a:pathLst>
                <a:path w="792698" h="139573">
                  <a:moveTo>
                    <a:pt x="0" y="0"/>
                  </a:moveTo>
                  <a:lnTo>
                    <a:pt x="792698" y="0"/>
                  </a:lnTo>
                  <a:lnTo>
                    <a:pt x="792698" y="139573"/>
                  </a:lnTo>
                  <a:lnTo>
                    <a:pt x="0" y="139573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92698" cy="177673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311448" y="1858662"/>
            <a:ext cx="5935484" cy="114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01513" y="5076825"/>
            <a:ext cx="406889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Tracks performance and detects early signs of risk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11722" y="5076825"/>
            <a:ext cx="406889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Guides entrepreneurs with practical steps to improve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01513" y="7834374"/>
            <a:ext cx="4068899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Builds a verified track record entrepreneurs and funders both see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01513" y="4528796"/>
            <a:ext cx="470420" cy="435695"/>
          </a:xfrm>
          <a:custGeom>
            <a:avLst/>
            <a:gdLst/>
            <a:ahLst/>
            <a:cxnLst/>
            <a:rect l="l" t="t" r="r" b="b"/>
            <a:pathLst>
              <a:path w="470420" h="435695">
                <a:moveTo>
                  <a:pt x="0" y="0"/>
                </a:moveTo>
                <a:lnTo>
                  <a:pt x="470419" y="0"/>
                </a:lnTo>
                <a:lnTo>
                  <a:pt x="470419" y="435695"/>
                </a:lnTo>
                <a:lnTo>
                  <a:pt x="0" y="435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/>
          <p:cNvSpPr/>
          <p:nvPr/>
        </p:nvSpPr>
        <p:spPr>
          <a:xfrm>
            <a:off x="7601513" y="7245350"/>
            <a:ext cx="470420" cy="435695"/>
          </a:xfrm>
          <a:custGeom>
            <a:avLst/>
            <a:gdLst/>
            <a:ahLst/>
            <a:cxnLst/>
            <a:rect l="l" t="t" r="r" b="b"/>
            <a:pathLst>
              <a:path w="470420" h="435695">
                <a:moveTo>
                  <a:pt x="0" y="0"/>
                </a:moveTo>
                <a:lnTo>
                  <a:pt x="470419" y="0"/>
                </a:lnTo>
                <a:lnTo>
                  <a:pt x="470419" y="435695"/>
                </a:lnTo>
                <a:lnTo>
                  <a:pt x="0" y="435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/>
          <p:cNvSpPr/>
          <p:nvPr/>
        </p:nvSpPr>
        <p:spPr>
          <a:xfrm>
            <a:off x="13011722" y="4528796"/>
            <a:ext cx="470420" cy="435695"/>
          </a:xfrm>
          <a:custGeom>
            <a:avLst/>
            <a:gdLst/>
            <a:ahLst/>
            <a:cxnLst/>
            <a:rect l="l" t="t" r="r" b="b"/>
            <a:pathLst>
              <a:path w="470420" h="435695">
                <a:moveTo>
                  <a:pt x="0" y="0"/>
                </a:moveTo>
                <a:lnTo>
                  <a:pt x="470420" y="0"/>
                </a:lnTo>
                <a:lnTo>
                  <a:pt x="470420" y="435695"/>
                </a:lnTo>
                <a:lnTo>
                  <a:pt x="0" y="435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AutoShape 17"/>
          <p:cNvSpPr/>
          <p:nvPr/>
        </p:nvSpPr>
        <p:spPr>
          <a:xfrm>
            <a:off x="15869351" y="8695775"/>
            <a:ext cx="1037924" cy="19050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ZA"/>
          </a:p>
        </p:txBody>
      </p:sp>
      <p:sp>
        <p:nvSpPr>
          <p:cNvPr id="18" name="Freeform 18"/>
          <p:cNvSpPr/>
          <p:nvPr/>
        </p:nvSpPr>
        <p:spPr>
          <a:xfrm>
            <a:off x="16250322" y="342024"/>
            <a:ext cx="1008978" cy="1299384"/>
          </a:xfrm>
          <a:custGeom>
            <a:avLst/>
            <a:gdLst/>
            <a:ahLst/>
            <a:cxnLst/>
            <a:rect l="l" t="t" r="r" b="b"/>
            <a:pathLst>
              <a:path w="1008978" h="1299384">
                <a:moveTo>
                  <a:pt x="0" y="0"/>
                </a:moveTo>
                <a:lnTo>
                  <a:pt x="1008978" y="0"/>
                </a:lnTo>
                <a:lnTo>
                  <a:pt x="1008978" y="1299385"/>
                </a:lnTo>
                <a:lnTo>
                  <a:pt x="0" y="1299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TextBox 19"/>
          <p:cNvSpPr txBox="1"/>
          <p:nvPr/>
        </p:nvSpPr>
        <p:spPr>
          <a:xfrm>
            <a:off x="1047793" y="446125"/>
            <a:ext cx="1836737" cy="6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0">
                <a:solidFill>
                  <a:srgbClr val="161414"/>
                </a:solidFill>
                <a:latin typeface="Lovelo"/>
                <a:ea typeface="Lovelo"/>
                <a:cs typeface="Lovelo"/>
                <a:sym typeface="Lovelo"/>
              </a:rPr>
              <a:t>PROVEN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27618" y="4590506"/>
            <a:ext cx="8158866" cy="3747186"/>
            <a:chOff x="0" y="0"/>
            <a:chExt cx="1016801" cy="46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6801" cy="466994"/>
            </a:xfrm>
            <a:custGeom>
              <a:avLst/>
              <a:gdLst/>
              <a:ahLst/>
              <a:cxnLst/>
              <a:rect l="l" t="t" r="r" b="b"/>
              <a:pathLst>
                <a:path w="1016801" h="466994">
                  <a:moveTo>
                    <a:pt x="47445" y="0"/>
                  </a:moveTo>
                  <a:lnTo>
                    <a:pt x="969356" y="0"/>
                  </a:lnTo>
                  <a:cubicBezTo>
                    <a:pt x="995559" y="0"/>
                    <a:pt x="1016801" y="21242"/>
                    <a:pt x="1016801" y="47445"/>
                  </a:cubicBezTo>
                  <a:lnTo>
                    <a:pt x="1016801" y="419549"/>
                  </a:lnTo>
                  <a:cubicBezTo>
                    <a:pt x="1016801" y="432132"/>
                    <a:pt x="1011803" y="444200"/>
                    <a:pt x="1002905" y="453098"/>
                  </a:cubicBezTo>
                  <a:cubicBezTo>
                    <a:pt x="994007" y="461996"/>
                    <a:pt x="981940" y="466994"/>
                    <a:pt x="969356" y="466994"/>
                  </a:cubicBezTo>
                  <a:lnTo>
                    <a:pt x="47445" y="466994"/>
                  </a:lnTo>
                  <a:cubicBezTo>
                    <a:pt x="21242" y="466994"/>
                    <a:pt x="0" y="445752"/>
                    <a:pt x="0" y="419549"/>
                  </a:cubicBezTo>
                  <a:lnTo>
                    <a:pt x="0" y="47445"/>
                  </a:lnTo>
                  <a:cubicBezTo>
                    <a:pt x="0" y="21242"/>
                    <a:pt x="21242" y="0"/>
                    <a:pt x="47445" y="0"/>
                  </a:cubicBezTo>
                  <a:close/>
                </a:path>
              </a:pathLst>
            </a:custGeom>
            <a:blipFill>
              <a:blip r:embed="rId2"/>
              <a:stretch>
                <a:fillRect t="-15456" b="-15456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485264" y="1927630"/>
            <a:ext cx="270907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SaaS Subscription: recurring income from funders and SME-support organisations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33197" y="1927630"/>
            <a:ext cx="3071211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Institutional Licensing: portfolio-level access for banks and DFIs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42808" y="1927630"/>
            <a:ext cx="310681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Future upside in premium analytics and financial-readiness partnerships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36197" y="5765912"/>
            <a:ext cx="4742264" cy="208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36197" y="7855727"/>
            <a:ext cx="3575112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</a:t>
            </a:r>
            <a:r>
              <a:rPr lang="en-US" sz="2400" b="1" u="none" strike="noStrik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Streams: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9916394"/>
            <a:ext cx="18288000" cy="370606"/>
            <a:chOff x="0" y="0"/>
            <a:chExt cx="4026338" cy="815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26338" cy="81594"/>
            </a:xfrm>
            <a:custGeom>
              <a:avLst/>
              <a:gdLst/>
              <a:ahLst/>
              <a:cxnLst/>
              <a:rect l="l" t="t" r="r" b="b"/>
              <a:pathLst>
                <a:path w="4026338" h="81594">
                  <a:moveTo>
                    <a:pt x="0" y="0"/>
                  </a:moveTo>
                  <a:lnTo>
                    <a:pt x="4026338" y="0"/>
                  </a:lnTo>
                  <a:lnTo>
                    <a:pt x="4026338" y="81594"/>
                  </a:lnTo>
                  <a:lnTo>
                    <a:pt x="0" y="81594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26338" cy="119694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857198" y="2279695"/>
            <a:ext cx="470420" cy="435695"/>
          </a:xfrm>
          <a:custGeom>
            <a:avLst/>
            <a:gdLst/>
            <a:ahLst/>
            <a:cxnLst/>
            <a:rect l="l" t="t" r="r" b="b"/>
            <a:pathLst>
              <a:path w="470420" h="435695">
                <a:moveTo>
                  <a:pt x="0" y="0"/>
                </a:moveTo>
                <a:lnTo>
                  <a:pt x="470420" y="0"/>
                </a:lnTo>
                <a:lnTo>
                  <a:pt x="470420" y="435695"/>
                </a:lnTo>
                <a:lnTo>
                  <a:pt x="0" y="435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/>
          <p:cNvSpPr/>
          <p:nvPr/>
        </p:nvSpPr>
        <p:spPr>
          <a:xfrm>
            <a:off x="6973580" y="2279695"/>
            <a:ext cx="470420" cy="435695"/>
          </a:xfrm>
          <a:custGeom>
            <a:avLst/>
            <a:gdLst/>
            <a:ahLst/>
            <a:cxnLst/>
            <a:rect l="l" t="t" r="r" b="b"/>
            <a:pathLst>
              <a:path w="470420" h="435695">
                <a:moveTo>
                  <a:pt x="0" y="0"/>
                </a:moveTo>
                <a:lnTo>
                  <a:pt x="470420" y="0"/>
                </a:lnTo>
                <a:lnTo>
                  <a:pt x="470420" y="435695"/>
                </a:lnTo>
                <a:lnTo>
                  <a:pt x="0" y="435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/>
          <p:cNvSpPr/>
          <p:nvPr/>
        </p:nvSpPr>
        <p:spPr>
          <a:xfrm>
            <a:off x="12280492" y="2279695"/>
            <a:ext cx="470420" cy="435695"/>
          </a:xfrm>
          <a:custGeom>
            <a:avLst/>
            <a:gdLst/>
            <a:ahLst/>
            <a:cxnLst/>
            <a:rect l="l" t="t" r="r" b="b"/>
            <a:pathLst>
              <a:path w="470420" h="435695">
                <a:moveTo>
                  <a:pt x="0" y="0"/>
                </a:moveTo>
                <a:lnTo>
                  <a:pt x="470419" y="0"/>
                </a:lnTo>
                <a:lnTo>
                  <a:pt x="470419" y="435695"/>
                </a:lnTo>
                <a:lnTo>
                  <a:pt x="0" y="435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15" name="Group 15"/>
          <p:cNvGrpSpPr/>
          <p:nvPr/>
        </p:nvGrpSpPr>
        <p:grpSpPr>
          <a:xfrm>
            <a:off x="0" y="0"/>
            <a:ext cx="570495" cy="661060"/>
            <a:chOff x="0" y="0"/>
            <a:chExt cx="125602" cy="1455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602" cy="145541"/>
            </a:xfrm>
            <a:custGeom>
              <a:avLst/>
              <a:gdLst/>
              <a:ahLst/>
              <a:cxnLst/>
              <a:rect l="l" t="t" r="r" b="b"/>
              <a:pathLst>
                <a:path w="125602" h="145541">
                  <a:moveTo>
                    <a:pt x="0" y="0"/>
                  </a:moveTo>
                  <a:lnTo>
                    <a:pt x="125602" y="0"/>
                  </a:lnTo>
                  <a:lnTo>
                    <a:pt x="125602" y="145541"/>
                  </a:lnTo>
                  <a:lnTo>
                    <a:pt x="0" y="145541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25602" cy="183641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16220327" y="9090157"/>
            <a:ext cx="1037924" cy="19050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ZA"/>
          </a:p>
        </p:txBody>
      </p:sp>
      <p:sp>
        <p:nvSpPr>
          <p:cNvPr id="19" name="Freeform 19"/>
          <p:cNvSpPr/>
          <p:nvPr/>
        </p:nvSpPr>
        <p:spPr>
          <a:xfrm>
            <a:off x="11236197" y="4881726"/>
            <a:ext cx="2094191" cy="523548"/>
          </a:xfrm>
          <a:custGeom>
            <a:avLst/>
            <a:gdLst/>
            <a:ahLst/>
            <a:cxnLst/>
            <a:rect l="l" t="t" r="r" b="b"/>
            <a:pathLst>
              <a:path w="2094191" h="523548">
                <a:moveTo>
                  <a:pt x="0" y="0"/>
                </a:moveTo>
                <a:lnTo>
                  <a:pt x="2094191" y="0"/>
                </a:lnTo>
                <a:lnTo>
                  <a:pt x="2094191" y="523548"/>
                </a:lnTo>
                <a:lnTo>
                  <a:pt x="0" y="523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/>
          <p:cNvSpPr/>
          <p:nvPr/>
        </p:nvSpPr>
        <p:spPr>
          <a:xfrm>
            <a:off x="16250322" y="342024"/>
            <a:ext cx="1008978" cy="1299384"/>
          </a:xfrm>
          <a:custGeom>
            <a:avLst/>
            <a:gdLst/>
            <a:ahLst/>
            <a:cxnLst/>
            <a:rect l="l" t="t" r="r" b="b"/>
            <a:pathLst>
              <a:path w="1008978" h="1299384">
                <a:moveTo>
                  <a:pt x="0" y="0"/>
                </a:moveTo>
                <a:lnTo>
                  <a:pt x="1008978" y="0"/>
                </a:lnTo>
                <a:lnTo>
                  <a:pt x="1008978" y="1299385"/>
                </a:lnTo>
                <a:lnTo>
                  <a:pt x="0" y="129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TextBox 21"/>
          <p:cNvSpPr txBox="1"/>
          <p:nvPr/>
        </p:nvSpPr>
        <p:spPr>
          <a:xfrm>
            <a:off x="1047793" y="446125"/>
            <a:ext cx="1836737" cy="6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0">
                <a:solidFill>
                  <a:srgbClr val="161414"/>
                </a:solidFill>
                <a:latin typeface="Lovelo"/>
                <a:ea typeface="Lovelo"/>
                <a:cs typeface="Lovelo"/>
                <a:sym typeface="Lovelo"/>
              </a:rPr>
              <a:t>PROVEN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23702" y="2793094"/>
            <a:ext cx="326839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Go B2B first, with organisations that already fund SME cohorts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33458" y="4822157"/>
            <a:ext cx="3122628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Partner with SA banks, NYDA, SEDFA, incubators and accelerators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33458" y="6850825"/>
            <a:ext cx="350228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Prove the model in South Africa, then expand across Africa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15582" y="3856452"/>
            <a:ext cx="8334446" cy="4725474"/>
            <a:chOff x="0" y="0"/>
            <a:chExt cx="1038683" cy="5889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8683" cy="588914"/>
            </a:xfrm>
            <a:custGeom>
              <a:avLst/>
              <a:gdLst/>
              <a:ahLst/>
              <a:cxnLst/>
              <a:rect l="l" t="t" r="r" b="b"/>
              <a:pathLst>
                <a:path w="1038683" h="588914">
                  <a:moveTo>
                    <a:pt x="46445" y="0"/>
                  </a:moveTo>
                  <a:lnTo>
                    <a:pt x="992237" y="0"/>
                  </a:lnTo>
                  <a:cubicBezTo>
                    <a:pt x="1017889" y="0"/>
                    <a:pt x="1038683" y="20794"/>
                    <a:pt x="1038683" y="46445"/>
                  </a:cubicBezTo>
                  <a:lnTo>
                    <a:pt x="1038683" y="542468"/>
                  </a:lnTo>
                  <a:cubicBezTo>
                    <a:pt x="1038683" y="568119"/>
                    <a:pt x="1017889" y="588914"/>
                    <a:pt x="992237" y="588914"/>
                  </a:cubicBezTo>
                  <a:lnTo>
                    <a:pt x="46445" y="588914"/>
                  </a:lnTo>
                  <a:cubicBezTo>
                    <a:pt x="20794" y="588914"/>
                    <a:pt x="0" y="568119"/>
                    <a:pt x="0" y="542468"/>
                  </a:cubicBezTo>
                  <a:lnTo>
                    <a:pt x="0" y="46445"/>
                  </a:lnTo>
                  <a:cubicBezTo>
                    <a:pt x="0" y="20794"/>
                    <a:pt x="20794" y="0"/>
                    <a:pt x="46445" y="0"/>
                  </a:cubicBezTo>
                  <a:close/>
                </a:path>
              </a:pathLst>
            </a:custGeom>
            <a:blipFill>
              <a:blip r:embed="rId2"/>
              <a:stretch>
                <a:fillRect t="-8864" b="-8864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501335" y="2523684"/>
            <a:ext cx="3862657" cy="780946"/>
            <a:chOff x="0" y="0"/>
            <a:chExt cx="850413" cy="1719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0413" cy="171935"/>
            </a:xfrm>
            <a:custGeom>
              <a:avLst/>
              <a:gdLst/>
              <a:ahLst/>
              <a:cxnLst/>
              <a:rect l="l" t="t" r="r" b="b"/>
              <a:pathLst>
                <a:path w="850413" h="171935">
                  <a:moveTo>
                    <a:pt x="0" y="0"/>
                  </a:moveTo>
                  <a:lnTo>
                    <a:pt x="850413" y="0"/>
                  </a:lnTo>
                  <a:lnTo>
                    <a:pt x="850413" y="171935"/>
                  </a:lnTo>
                  <a:lnTo>
                    <a:pt x="0" y="171935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50413" cy="210035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915400" y="2294195"/>
            <a:ext cx="6007800" cy="208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1" dirty="0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 Entry</a:t>
            </a:r>
          </a:p>
        </p:txBody>
      </p:sp>
      <p:sp>
        <p:nvSpPr>
          <p:cNvPr id="11" name="Freeform 11"/>
          <p:cNvSpPr/>
          <p:nvPr/>
        </p:nvSpPr>
        <p:spPr>
          <a:xfrm>
            <a:off x="2209968" y="2968946"/>
            <a:ext cx="470420" cy="435695"/>
          </a:xfrm>
          <a:custGeom>
            <a:avLst/>
            <a:gdLst/>
            <a:ahLst/>
            <a:cxnLst/>
            <a:rect l="l" t="t" r="r" b="b"/>
            <a:pathLst>
              <a:path w="470420" h="435695">
                <a:moveTo>
                  <a:pt x="0" y="0"/>
                </a:moveTo>
                <a:lnTo>
                  <a:pt x="470419" y="0"/>
                </a:lnTo>
                <a:lnTo>
                  <a:pt x="470419" y="435695"/>
                </a:lnTo>
                <a:lnTo>
                  <a:pt x="0" y="435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/>
          <p:cNvSpPr/>
          <p:nvPr/>
        </p:nvSpPr>
        <p:spPr>
          <a:xfrm>
            <a:off x="2209968" y="4998010"/>
            <a:ext cx="470420" cy="435695"/>
          </a:xfrm>
          <a:custGeom>
            <a:avLst/>
            <a:gdLst/>
            <a:ahLst/>
            <a:cxnLst/>
            <a:rect l="l" t="t" r="r" b="b"/>
            <a:pathLst>
              <a:path w="470420" h="435695">
                <a:moveTo>
                  <a:pt x="0" y="0"/>
                </a:moveTo>
                <a:lnTo>
                  <a:pt x="470419" y="0"/>
                </a:lnTo>
                <a:lnTo>
                  <a:pt x="470419" y="435695"/>
                </a:lnTo>
                <a:lnTo>
                  <a:pt x="0" y="435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/>
          <p:cNvSpPr/>
          <p:nvPr/>
        </p:nvSpPr>
        <p:spPr>
          <a:xfrm>
            <a:off x="2209968" y="7202890"/>
            <a:ext cx="470420" cy="435695"/>
          </a:xfrm>
          <a:custGeom>
            <a:avLst/>
            <a:gdLst/>
            <a:ahLst/>
            <a:cxnLst/>
            <a:rect l="l" t="t" r="r" b="b"/>
            <a:pathLst>
              <a:path w="470420" h="435695">
                <a:moveTo>
                  <a:pt x="0" y="0"/>
                </a:moveTo>
                <a:lnTo>
                  <a:pt x="470419" y="0"/>
                </a:lnTo>
                <a:lnTo>
                  <a:pt x="470419" y="435695"/>
                </a:lnTo>
                <a:lnTo>
                  <a:pt x="0" y="435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14" name="Group 14"/>
          <p:cNvGrpSpPr/>
          <p:nvPr/>
        </p:nvGrpSpPr>
        <p:grpSpPr>
          <a:xfrm>
            <a:off x="0" y="9916394"/>
            <a:ext cx="18288000" cy="370606"/>
            <a:chOff x="0" y="0"/>
            <a:chExt cx="4026338" cy="815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26338" cy="81594"/>
            </a:xfrm>
            <a:custGeom>
              <a:avLst/>
              <a:gdLst/>
              <a:ahLst/>
              <a:cxnLst/>
              <a:rect l="l" t="t" r="r" b="b"/>
              <a:pathLst>
                <a:path w="4026338" h="81594">
                  <a:moveTo>
                    <a:pt x="0" y="0"/>
                  </a:moveTo>
                  <a:lnTo>
                    <a:pt x="4026338" y="0"/>
                  </a:lnTo>
                  <a:lnTo>
                    <a:pt x="4026338" y="81594"/>
                  </a:lnTo>
                  <a:lnTo>
                    <a:pt x="0" y="81594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26338" cy="119694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28700" y="1100251"/>
            <a:ext cx="1457218" cy="364304"/>
          </a:xfrm>
          <a:custGeom>
            <a:avLst/>
            <a:gdLst/>
            <a:ahLst/>
            <a:cxnLst/>
            <a:rect l="l" t="t" r="r" b="b"/>
            <a:pathLst>
              <a:path w="1457218" h="364304">
                <a:moveTo>
                  <a:pt x="0" y="0"/>
                </a:moveTo>
                <a:lnTo>
                  <a:pt x="1457218" y="0"/>
                </a:lnTo>
                <a:lnTo>
                  <a:pt x="1457218" y="364305"/>
                </a:lnTo>
                <a:lnTo>
                  <a:pt x="0" y="364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/>
          <p:cNvSpPr/>
          <p:nvPr/>
        </p:nvSpPr>
        <p:spPr>
          <a:xfrm>
            <a:off x="16250322" y="342024"/>
            <a:ext cx="1008978" cy="1299384"/>
          </a:xfrm>
          <a:custGeom>
            <a:avLst/>
            <a:gdLst/>
            <a:ahLst/>
            <a:cxnLst/>
            <a:rect l="l" t="t" r="r" b="b"/>
            <a:pathLst>
              <a:path w="1008978" h="1299384">
                <a:moveTo>
                  <a:pt x="0" y="0"/>
                </a:moveTo>
                <a:lnTo>
                  <a:pt x="1008978" y="0"/>
                </a:lnTo>
                <a:lnTo>
                  <a:pt x="1008978" y="1299385"/>
                </a:lnTo>
                <a:lnTo>
                  <a:pt x="0" y="129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TextBox 19"/>
          <p:cNvSpPr txBox="1"/>
          <p:nvPr/>
        </p:nvSpPr>
        <p:spPr>
          <a:xfrm>
            <a:off x="1047793" y="446125"/>
            <a:ext cx="1836737" cy="6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0">
                <a:solidFill>
                  <a:srgbClr val="161414"/>
                </a:solidFill>
                <a:latin typeface="Lovelo"/>
                <a:ea typeface="Lovelo"/>
                <a:cs typeface="Lovelo"/>
                <a:sym typeface="Lovelo"/>
              </a:rPr>
              <a:t>PROVEN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885886"/>
            <a:ext cx="18288000" cy="1401114"/>
            <a:chOff x="0" y="0"/>
            <a:chExt cx="4026338" cy="3084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6338" cy="308473"/>
            </a:xfrm>
            <a:custGeom>
              <a:avLst/>
              <a:gdLst/>
              <a:ahLst/>
              <a:cxnLst/>
              <a:rect l="l" t="t" r="r" b="b"/>
              <a:pathLst>
                <a:path w="4026338" h="308473">
                  <a:moveTo>
                    <a:pt x="0" y="0"/>
                  </a:moveTo>
                  <a:lnTo>
                    <a:pt x="4026338" y="0"/>
                  </a:lnTo>
                  <a:lnTo>
                    <a:pt x="4026338" y="308473"/>
                  </a:lnTo>
                  <a:lnTo>
                    <a:pt x="0" y="308473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26338" cy="346573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07139" y="4542161"/>
            <a:ext cx="6908979" cy="6323327"/>
            <a:chOff x="0" y="0"/>
            <a:chExt cx="1070382" cy="9796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0382" cy="979649"/>
            </a:xfrm>
            <a:custGeom>
              <a:avLst/>
              <a:gdLst/>
              <a:ahLst/>
              <a:cxnLst/>
              <a:rect l="l" t="t" r="r" b="b"/>
              <a:pathLst>
                <a:path w="1070382" h="979649">
                  <a:moveTo>
                    <a:pt x="67234" y="0"/>
                  </a:moveTo>
                  <a:lnTo>
                    <a:pt x="1003148" y="0"/>
                  </a:lnTo>
                  <a:cubicBezTo>
                    <a:pt x="1020979" y="0"/>
                    <a:pt x="1038081" y="7084"/>
                    <a:pt x="1050689" y="19692"/>
                  </a:cubicBezTo>
                  <a:cubicBezTo>
                    <a:pt x="1063298" y="32301"/>
                    <a:pt x="1070382" y="49402"/>
                    <a:pt x="1070382" y="67234"/>
                  </a:cubicBezTo>
                  <a:lnTo>
                    <a:pt x="1070382" y="912415"/>
                  </a:lnTo>
                  <a:cubicBezTo>
                    <a:pt x="1070382" y="949547"/>
                    <a:pt x="1040280" y="979649"/>
                    <a:pt x="1003148" y="979649"/>
                  </a:cubicBezTo>
                  <a:lnTo>
                    <a:pt x="67234" y="979649"/>
                  </a:lnTo>
                  <a:cubicBezTo>
                    <a:pt x="49402" y="979649"/>
                    <a:pt x="32301" y="972565"/>
                    <a:pt x="19692" y="959957"/>
                  </a:cubicBezTo>
                  <a:cubicBezTo>
                    <a:pt x="7084" y="947348"/>
                    <a:pt x="0" y="930247"/>
                    <a:pt x="0" y="912415"/>
                  </a:cubicBezTo>
                  <a:lnTo>
                    <a:pt x="0" y="67234"/>
                  </a:lnTo>
                  <a:cubicBezTo>
                    <a:pt x="0" y="49402"/>
                    <a:pt x="7084" y="32301"/>
                    <a:pt x="19692" y="19692"/>
                  </a:cubicBezTo>
                  <a:cubicBezTo>
                    <a:pt x="32301" y="7084"/>
                    <a:pt x="49402" y="0"/>
                    <a:pt x="67234" y="0"/>
                  </a:cubicBezTo>
                  <a:close/>
                </a:path>
              </a:pathLst>
            </a:custGeom>
            <a:blipFill>
              <a:blip r:embed="rId2"/>
              <a:stretch>
                <a:fillRect l="-18685" r="-18685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384110" y="1298489"/>
            <a:ext cx="4832152" cy="208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Pr</a:t>
            </a:r>
            <a:r>
              <a:rPr lang="en-US" sz="6800" b="1" u="none" strike="noStrik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omise &amp; Ask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50535" y="6523675"/>
            <a:ext cx="2453848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Pilot partnerships to test Proven with real funded SMEs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50535" y="2815187"/>
            <a:ext cx="2291321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Strategic partnerships with SA banks, government and ED programmes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6258" y="6523675"/>
            <a:ext cx="2871927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Mentorship in SME finance, product development and data governance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6258" y="2815187"/>
            <a:ext cx="2871927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Funding to complete MVP validation and pilot preparation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0" y="0"/>
            <a:ext cx="570495" cy="661060"/>
            <a:chOff x="0" y="0"/>
            <a:chExt cx="125602" cy="1455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602" cy="145541"/>
            </a:xfrm>
            <a:custGeom>
              <a:avLst/>
              <a:gdLst/>
              <a:ahLst/>
              <a:cxnLst/>
              <a:rect l="l" t="t" r="r" b="b"/>
              <a:pathLst>
                <a:path w="125602" h="145541">
                  <a:moveTo>
                    <a:pt x="0" y="0"/>
                  </a:moveTo>
                  <a:lnTo>
                    <a:pt x="125602" y="0"/>
                  </a:lnTo>
                  <a:lnTo>
                    <a:pt x="125602" y="145541"/>
                  </a:lnTo>
                  <a:lnTo>
                    <a:pt x="0" y="145541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5602" cy="183641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384110" y="3570000"/>
            <a:ext cx="1273349" cy="318337"/>
          </a:xfrm>
          <a:custGeom>
            <a:avLst/>
            <a:gdLst/>
            <a:ahLst/>
            <a:cxnLst/>
            <a:rect l="l" t="t" r="r" b="b"/>
            <a:pathLst>
              <a:path w="1273349" h="318337">
                <a:moveTo>
                  <a:pt x="0" y="0"/>
                </a:moveTo>
                <a:lnTo>
                  <a:pt x="1273349" y="0"/>
                </a:lnTo>
                <a:lnTo>
                  <a:pt x="1273349" y="318337"/>
                </a:lnTo>
                <a:lnTo>
                  <a:pt x="0" y="318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/>
          <p:cNvSpPr/>
          <p:nvPr/>
        </p:nvSpPr>
        <p:spPr>
          <a:xfrm>
            <a:off x="1850535" y="2131374"/>
            <a:ext cx="535141" cy="535141"/>
          </a:xfrm>
          <a:custGeom>
            <a:avLst/>
            <a:gdLst/>
            <a:ahLst/>
            <a:cxnLst/>
            <a:rect l="l" t="t" r="r" b="b"/>
            <a:pathLst>
              <a:path w="535141" h="535141">
                <a:moveTo>
                  <a:pt x="0" y="0"/>
                </a:moveTo>
                <a:lnTo>
                  <a:pt x="535141" y="0"/>
                </a:lnTo>
                <a:lnTo>
                  <a:pt x="535141" y="535141"/>
                </a:lnTo>
                <a:lnTo>
                  <a:pt x="0" y="535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/>
          <p:cNvSpPr/>
          <p:nvPr/>
        </p:nvSpPr>
        <p:spPr>
          <a:xfrm>
            <a:off x="5826258" y="2131374"/>
            <a:ext cx="535141" cy="535141"/>
          </a:xfrm>
          <a:custGeom>
            <a:avLst/>
            <a:gdLst/>
            <a:ahLst/>
            <a:cxnLst/>
            <a:rect l="l" t="t" r="r" b="b"/>
            <a:pathLst>
              <a:path w="535141" h="535141">
                <a:moveTo>
                  <a:pt x="0" y="0"/>
                </a:moveTo>
                <a:lnTo>
                  <a:pt x="535140" y="0"/>
                </a:lnTo>
                <a:lnTo>
                  <a:pt x="535140" y="535141"/>
                </a:lnTo>
                <a:lnTo>
                  <a:pt x="0" y="535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/>
          <p:cNvSpPr/>
          <p:nvPr/>
        </p:nvSpPr>
        <p:spPr>
          <a:xfrm>
            <a:off x="1850535" y="5876946"/>
            <a:ext cx="535141" cy="535141"/>
          </a:xfrm>
          <a:custGeom>
            <a:avLst/>
            <a:gdLst/>
            <a:ahLst/>
            <a:cxnLst/>
            <a:rect l="l" t="t" r="r" b="b"/>
            <a:pathLst>
              <a:path w="535141" h="535141">
                <a:moveTo>
                  <a:pt x="0" y="0"/>
                </a:moveTo>
                <a:lnTo>
                  <a:pt x="535141" y="0"/>
                </a:lnTo>
                <a:lnTo>
                  <a:pt x="535141" y="535141"/>
                </a:lnTo>
                <a:lnTo>
                  <a:pt x="0" y="535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/>
          <p:cNvSpPr/>
          <p:nvPr/>
        </p:nvSpPr>
        <p:spPr>
          <a:xfrm>
            <a:off x="5826258" y="5876946"/>
            <a:ext cx="535141" cy="535141"/>
          </a:xfrm>
          <a:custGeom>
            <a:avLst/>
            <a:gdLst/>
            <a:ahLst/>
            <a:cxnLst/>
            <a:rect l="l" t="t" r="r" b="b"/>
            <a:pathLst>
              <a:path w="535141" h="535141">
                <a:moveTo>
                  <a:pt x="0" y="0"/>
                </a:moveTo>
                <a:lnTo>
                  <a:pt x="535140" y="0"/>
                </a:lnTo>
                <a:lnTo>
                  <a:pt x="535140" y="535141"/>
                </a:lnTo>
                <a:lnTo>
                  <a:pt x="0" y="535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/>
          <p:cNvSpPr/>
          <p:nvPr/>
        </p:nvSpPr>
        <p:spPr>
          <a:xfrm>
            <a:off x="16250322" y="342024"/>
            <a:ext cx="1008978" cy="1299384"/>
          </a:xfrm>
          <a:custGeom>
            <a:avLst/>
            <a:gdLst/>
            <a:ahLst/>
            <a:cxnLst/>
            <a:rect l="l" t="t" r="r" b="b"/>
            <a:pathLst>
              <a:path w="1008978" h="1299384">
                <a:moveTo>
                  <a:pt x="0" y="0"/>
                </a:moveTo>
                <a:lnTo>
                  <a:pt x="1008978" y="0"/>
                </a:lnTo>
                <a:lnTo>
                  <a:pt x="1008978" y="1299385"/>
                </a:lnTo>
                <a:lnTo>
                  <a:pt x="0" y="129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TextBox 21"/>
          <p:cNvSpPr txBox="1"/>
          <p:nvPr/>
        </p:nvSpPr>
        <p:spPr>
          <a:xfrm>
            <a:off x="1047793" y="446125"/>
            <a:ext cx="1836737" cy="6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0">
                <a:solidFill>
                  <a:srgbClr val="161414"/>
                </a:solidFill>
                <a:latin typeface="Lovelo"/>
                <a:ea typeface="Lovelo"/>
                <a:cs typeface="Lovelo"/>
                <a:sym typeface="Lovelo"/>
              </a:rPr>
              <a:t>PROVEN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73768" y="2189749"/>
            <a:ext cx="2613432" cy="1130788"/>
            <a:chOff x="0" y="0"/>
            <a:chExt cx="575381" cy="2489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381" cy="248957"/>
            </a:xfrm>
            <a:custGeom>
              <a:avLst/>
              <a:gdLst/>
              <a:ahLst/>
              <a:cxnLst/>
              <a:rect l="l" t="t" r="r" b="b"/>
              <a:pathLst>
                <a:path w="575381" h="248957">
                  <a:moveTo>
                    <a:pt x="0" y="0"/>
                  </a:moveTo>
                  <a:lnTo>
                    <a:pt x="575381" y="0"/>
                  </a:lnTo>
                  <a:lnTo>
                    <a:pt x="575381" y="248957"/>
                  </a:lnTo>
                  <a:lnTo>
                    <a:pt x="0" y="248957"/>
                  </a:lnTo>
                  <a:close/>
                </a:path>
              </a:pathLst>
            </a:custGeom>
            <a:solidFill>
              <a:srgbClr val="01F8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75381" cy="287057"/>
            </a:xfrm>
            <a:prstGeom prst="rect">
              <a:avLst/>
            </a:prstGeom>
          </p:spPr>
          <p:txBody>
            <a:bodyPr lIns="60771" tIns="60771" rIns="60771" bIns="6077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961444" y="2170699"/>
            <a:ext cx="5518378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b="1" u="none" strike="noStrike" dirty="0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5034" y="8947150"/>
            <a:ext cx="331232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Built around the relationship, not just one side of it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06181" y="8947150"/>
            <a:ext cx="3399295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Transparent evidence entrepreneurs and funders both see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96026" y="8947150"/>
            <a:ext cx="344055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Guidance explains what changed, not just an alert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16088" y="8947150"/>
            <a:ext cx="3456878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Builds credit-readiness evidence, never automatic approval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602132" y="8793840"/>
            <a:ext cx="3138128" cy="0"/>
          </a:xfrm>
          <a:prstGeom prst="line">
            <a:avLst/>
          </a:prstGeom>
          <a:ln w="19050" cap="rnd">
            <a:solidFill>
              <a:srgbClr val="0B0A0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1" name="AutoShape 11"/>
          <p:cNvSpPr/>
          <p:nvPr/>
        </p:nvSpPr>
        <p:spPr>
          <a:xfrm>
            <a:off x="5651700" y="8793840"/>
            <a:ext cx="3108256" cy="0"/>
          </a:xfrm>
          <a:prstGeom prst="line">
            <a:avLst/>
          </a:prstGeom>
          <a:ln w="19050" cap="rnd">
            <a:solidFill>
              <a:srgbClr val="0B0A0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2" name="AutoShape 12"/>
          <p:cNvSpPr/>
          <p:nvPr/>
        </p:nvSpPr>
        <p:spPr>
          <a:xfrm>
            <a:off x="9669828" y="8793840"/>
            <a:ext cx="3092948" cy="0"/>
          </a:xfrm>
          <a:prstGeom prst="line">
            <a:avLst/>
          </a:prstGeom>
          <a:ln w="19050" cap="rnd">
            <a:solidFill>
              <a:srgbClr val="0B0A0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3" name="AutoShape 13"/>
          <p:cNvSpPr/>
          <p:nvPr/>
        </p:nvSpPr>
        <p:spPr>
          <a:xfrm>
            <a:off x="13498053" y="8793840"/>
            <a:ext cx="3092948" cy="0"/>
          </a:xfrm>
          <a:prstGeom prst="line">
            <a:avLst/>
          </a:prstGeom>
          <a:ln w="19050" cap="rnd">
            <a:solidFill>
              <a:srgbClr val="0B0A0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Box 16"/>
          <p:cNvSpPr txBox="1"/>
          <p:nvPr/>
        </p:nvSpPr>
        <p:spPr>
          <a:xfrm>
            <a:off x="1602132" y="7720690"/>
            <a:ext cx="2665068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1F8FE"/>
                </a:solidFill>
                <a:latin typeface="Agrandir Bold"/>
                <a:ea typeface="Agrandir Bold"/>
                <a:cs typeface="Agrandir Bold"/>
                <a:sym typeface="Agrandir Bold"/>
              </a:rPr>
              <a:t>Tumelo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51700" y="7720690"/>
            <a:ext cx="2577900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1F8FE"/>
                </a:solidFill>
                <a:latin typeface="Agrandir Bold"/>
                <a:ea typeface="Agrandir Bold"/>
                <a:cs typeface="Agrandir Bold"/>
                <a:sym typeface="Agrandir Bold"/>
              </a:rPr>
              <a:t>Oreo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69828" y="7720690"/>
            <a:ext cx="2445972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1F8FE"/>
                </a:solidFill>
                <a:latin typeface="Agrandir Bold"/>
                <a:ea typeface="Agrandir Bold"/>
                <a:cs typeface="Agrandir Bold"/>
                <a:sym typeface="Agrandir Bold"/>
              </a:rPr>
              <a:t>Henry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98052" y="7720690"/>
            <a:ext cx="2752269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  <a:spcBef>
                <a:spcPct val="0"/>
              </a:spcBef>
            </a:pPr>
            <a:r>
              <a:rPr lang="en-US" sz="5000" b="1" dirty="0" err="1">
                <a:solidFill>
                  <a:srgbClr val="01F8FE"/>
                </a:solidFill>
                <a:latin typeface="Agrandir Bold"/>
                <a:ea typeface="Agrandir Bold"/>
                <a:cs typeface="Agrandir Bold"/>
                <a:sym typeface="Agrandir Bold"/>
              </a:rPr>
              <a:t>Kgotso</a:t>
            </a:r>
            <a:endParaRPr lang="en-US" sz="5000" b="1" dirty="0">
              <a:solidFill>
                <a:srgbClr val="01F8FE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6250322" y="342024"/>
            <a:ext cx="1008978" cy="1299384"/>
          </a:xfrm>
          <a:custGeom>
            <a:avLst/>
            <a:gdLst/>
            <a:ahLst/>
            <a:cxnLst/>
            <a:rect l="l" t="t" r="r" b="b"/>
            <a:pathLst>
              <a:path w="1008978" h="1299384">
                <a:moveTo>
                  <a:pt x="0" y="0"/>
                </a:moveTo>
                <a:lnTo>
                  <a:pt x="1008978" y="0"/>
                </a:lnTo>
                <a:lnTo>
                  <a:pt x="1008978" y="1299385"/>
                </a:lnTo>
                <a:lnTo>
                  <a:pt x="0" y="1299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TextBox 21"/>
          <p:cNvSpPr txBox="1"/>
          <p:nvPr/>
        </p:nvSpPr>
        <p:spPr>
          <a:xfrm>
            <a:off x="1047793" y="446125"/>
            <a:ext cx="1836737" cy="63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1"/>
              </a:lnSpc>
            </a:pPr>
            <a:r>
              <a:rPr lang="en-US" sz="3700">
                <a:solidFill>
                  <a:srgbClr val="161414"/>
                </a:solidFill>
                <a:latin typeface="Lovelo"/>
                <a:ea typeface="Lovelo"/>
                <a:cs typeface="Lovelo"/>
                <a:sym typeface="Lovelo"/>
              </a:rPr>
              <a:t>PROVEN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224</Words>
  <Application>Microsoft Office PowerPoint</Application>
  <PresentationFormat>Custom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Agrandir Bold</vt:lpstr>
      <vt:lpstr>Calibri</vt:lpstr>
      <vt:lpstr>Lovelo</vt:lpstr>
      <vt:lpstr>Arial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 Green Modern Investor Pitch Deck Presentation</dc:title>
  <cp:lastModifiedBy>Tumelo Mangole</cp:lastModifiedBy>
  <cp:revision>2</cp:revision>
  <dcterms:created xsi:type="dcterms:W3CDTF">2006-08-16T00:00:00Z</dcterms:created>
  <dcterms:modified xsi:type="dcterms:W3CDTF">2026-08-10T00:58:40Z</dcterms:modified>
  <dc:identifier>DAHR1kh3kUM</dc:identifier>
</cp:coreProperties>
</file>